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distinction: the Risk &amp; Pressure Score is diagnostic (0–100, ranks where to look); it never sizes a team. Minimum Viable Capacity is prescriptive — set by the hardest-binding of workload, role floor, coverage floor and sustainability. Risk Score = weighted f(BC Weight, Cost, Capacity, Change, Incident) + agreed severity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safeguards behind the model: True LTO subjectivity — require rules, evidence and challenge. Missing data — use Unassessed, never zero. Portfolio average — use for challenge, not as a target. Cost vs FTE — separate labour, vendors and infrastructure. Opaque composite — show raw inputs and factor contribution. Change volume — pair with failure, rollback and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evidence → capacity drivers: Support (L2, defects/bug-fixing) → engineering &amp; coverage? Risk/controls (CVE, IVS, CVM, obsolescence) → mandatory effort &amp; skills? Performance (real-time &amp; EOD OLA/SLA) → reliability capability? Change exposure (760 changes; four CIs) → test, release &amp; stability? Role adequacy minimums: Application/L2–L3 engineering 5.5; Test &amp; release 2.0; Performance/reliability 2.0; Service/control ownership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Technology Operating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074152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Viable Capacity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Q1 risk signal into a capacity decision leadership can defend.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11274552" cy="1481328"/>
          </a:xfrm>
          <a:prstGeom prst="roundRect">
            <a:avLst>
              <a:gd name="adj" fmla="val 5556"/>
            </a:avLst>
          </a:prstGeom>
          <a:solidFill>
            <a:srgbClr val="1020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2763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spreadsheet finds the pressure. The operating model </a:t>
            </a:r>
            <a:pPr algn="l" indent="0" marL="0">
              <a:buNone/>
            </a:pPr>
            <a:r>
              <a:rPr lang="en-US" sz="1450" b="1" i="1" dirty="0">
                <a:solidFill>
                  <a:srgbClr val="E6C5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sizes the response.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89904" y="2084832"/>
            <a:ext cx="0" cy="713232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06654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D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 ·  DIAGNOSTIC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295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786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0–100 signal that ranks applications by pressure. It prioritises review — not team size.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0665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6C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CAPACITY  ·  PRESCRIPTIVE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2951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you need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25786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set by workload, role, coverage and sustainability — whichever binds hardest. What you fund, rebalance or accept.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27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method, end to end</a:t>
            </a:r>
            <a:pPr algn="l" indent="0" marL="0">
              <a:buNone/>
            </a:pPr>
            <a:r>
              <a:rPr lang="en-US" sz="1100" b="1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Classify → Score → Size → Compare → Act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486400" cy="2084832"/>
          </a:xfrm>
          <a:prstGeom prst="roundRect">
            <a:avLst>
              <a:gd name="adj" fmla="val 2632"/>
            </a:avLst>
          </a:prstGeom>
          <a:solidFill>
            <a:srgbClr val="EDF3F6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6210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D61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210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  </a:t>
            </a:r>
            <a:pPr algn="l" indent="0" marL="0">
              <a:buNone/>
            </a:pPr>
            <a:r>
              <a:rPr lang="en-US" sz="10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Q1 engine, retained unchanged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648456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D61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what exists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40873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algn="l" indent="0" marL="0">
              <a:buNone/>
            </a:pPr>
            <a:r>
              <a:rPr lang="en-US" sz="12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true LTO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" y="43068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LTO % · Evidence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94944" y="45628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l" indent="0" marL="0">
              <a:buNone/>
            </a:pPr>
            <a:r>
              <a:rPr lang="en-US" sz="12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signals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" y="47823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capacity · BC weight · Change / incident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" y="50383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l" indent="0" marL="0">
              <a:buNone/>
            </a:pPr>
            <a:r>
              <a:rPr lang="en-US" sz="12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Score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94944" y="52578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· Factor contribution · Severity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45352" y="3474720"/>
            <a:ext cx="5486400" cy="2084832"/>
          </a:xfrm>
          <a:prstGeom prst="roundRect">
            <a:avLst>
              <a:gd name="adj" fmla="val 2632"/>
            </a:avLst>
          </a:prstGeom>
          <a:solidFill>
            <a:srgbClr val="F6F1E6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9944" y="36210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986F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36210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 </a:t>
            </a:r>
            <a:pPr algn="l" indent="0" marL="0">
              <a:buNone/>
            </a:pPr>
            <a:r>
              <a:rPr lang="en-US" sz="10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operating-model layers we add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314432" y="3648456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86F2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cycle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73368" y="4050792"/>
            <a:ext cx="5230368" cy="438912"/>
          </a:xfrm>
          <a:prstGeom prst="roundRect">
            <a:avLst>
              <a:gd name="adj" fmla="val 8333"/>
            </a:avLst>
          </a:prstGeom>
          <a:solidFill>
            <a:srgbClr val="FBF3E1"/>
          </a:solidFill>
          <a:ln w="9525">
            <a:solidFill>
              <a:srgbClr val="986F2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57232" y="40782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CONSTRAINT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483096" y="40873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l" indent="0" marL="0">
              <a:buNone/>
            </a:pPr>
            <a:r>
              <a:rPr lang="en-US" sz="12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minimum capacity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483096" y="43068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· Role floor · Coverage · Sustainability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483096" y="45628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l" indent="0" marL="0">
              <a:buNone/>
            </a:pPr>
            <a:r>
              <a:rPr lang="en-US" sz="12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adequacy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483096" y="47823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vs effective FTE · Backup cover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83096" y="50383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algn="l" indent="0" marL="0">
              <a:buNone/>
            </a:pPr>
            <a:r>
              <a:rPr lang="en-US" sz="12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&amp; govern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483096" y="52578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· Fund · Rebalance · Automate · Accept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742432"/>
            <a:ext cx="1280160" cy="420624"/>
          </a:xfrm>
          <a:prstGeom prst="rect">
            <a:avLst/>
          </a:prstGeom>
          <a:solidFill>
            <a:srgbClr val="A330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pPr algn="ctr" indent="0" marL="0">
              <a:buNone/>
            </a:pPr>
            <a:r>
              <a:rPr lang="en-US" sz="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75–100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773936" y="5742432"/>
            <a:ext cx="1280160" cy="420624"/>
          </a:xfrm>
          <a:prstGeom prst="rect">
            <a:avLst/>
          </a:prstGeom>
          <a:solidFill>
            <a:srgbClr val="C862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</a:t>
            </a:r>
            <a:pPr algn="ctr" indent="0" marL="0">
              <a:buNone/>
            </a:pPr>
            <a:r>
              <a:rPr lang="en-US" sz="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090672" y="5742432"/>
            <a:ext cx="1280160" cy="420624"/>
          </a:xfrm>
          <a:prstGeom prst="rect">
            <a:avLst/>
          </a:prstGeom>
          <a:solidFill>
            <a:srgbClr val="D8A9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</a:t>
            </a:r>
            <a:pPr algn="ctr" indent="0" marL="0">
              <a:buNone/>
            </a:pPr>
            <a:r>
              <a:rPr lang="en-US" sz="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407408" y="5742432"/>
            <a:ext cx="1280160" cy="420624"/>
          </a:xfrm>
          <a:prstGeom prst="rect">
            <a:avLst/>
          </a:prstGeom>
          <a:solidFill>
            <a:srgbClr val="4E7C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</a:t>
            </a:r>
            <a:pPr algn="ctr" indent="0" marL="0">
              <a:buNone/>
            </a:pPr>
            <a:r>
              <a:rPr lang="en-US" sz="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15–34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724144" y="5742432"/>
            <a:ext cx="1280160" cy="420624"/>
          </a:xfrm>
          <a:prstGeom prst="rect">
            <a:avLst/>
          </a:prstGeom>
          <a:solidFill>
            <a:srgbClr val="6B76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 </a:t>
            </a:r>
            <a:pPr algn="ctr" indent="0" marL="0">
              <a:buNone/>
            </a:pPr>
            <a:r>
              <a:rPr lang="en-US" sz="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5742432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prioritises review</a:t>
            </a:r>
            <a:pPr algn="l" indent="0" marL="0">
              <a:buNone/>
            </a:pPr>
            <a:r>
              <a:rPr lang="en-US" sz="10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does not calculate FTE. Capacity is sized in Phase B.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Technology Operating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074152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portfolio data to a management decision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scorecard keeps the existing quantitative model and adds the attributes needed to size capacity and test adequacy.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3660648" cy="932688"/>
          </a:xfrm>
          <a:prstGeom prst="roundRect">
            <a:avLst>
              <a:gd name="adj" fmla="val 4902"/>
            </a:avLst>
          </a:prstGeom>
          <a:solidFill>
            <a:srgbClr val="FBFCFD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36192"/>
            <a:ext cx="329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OUTPUT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0784"/>
            <a:ext cx="3294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identifies where to look. Ranking, not resourcing.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4152" y="1426464"/>
            <a:ext cx="3660648" cy="932688"/>
          </a:xfrm>
          <a:prstGeom prst="roundRect">
            <a:avLst>
              <a:gd name="adj" fmla="val 4902"/>
            </a:avLst>
          </a:prstGeom>
          <a:solidFill>
            <a:srgbClr val="FBFCFD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7032" y="1536192"/>
            <a:ext cx="329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· OUTPUT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447032" y="1700784"/>
            <a:ext cx="3294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47032" y="2011680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Capacity specifies the binding operating requirement.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71104" y="1426464"/>
            <a:ext cx="3660648" cy="932688"/>
          </a:xfrm>
          <a:prstGeom prst="roundRect">
            <a:avLst>
              <a:gd name="adj" fmla="val 4902"/>
            </a:avLst>
          </a:prstGeom>
          <a:solidFill>
            <a:srgbClr val="FBFCFD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53984" y="1536192"/>
            <a:ext cx="329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· OUTPUT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253984" y="1700784"/>
            <a:ext cx="3294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2011680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Adequacy tests whether effective FTE, role mix and coverage meet it.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414016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outputs, kept apart. </a:t>
            </a:r>
            <a:pPr indent="0" marL="0">
              <a:buNone/>
            </a:pPr>
            <a:r>
              <a:rPr lang="en-US" sz="1050" b="1" i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them is how a real capacity gap hides behind an average.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79806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 anatomy — eight blocks, one 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3218688" cy="1828800"/>
          </a:xfrm>
          <a:prstGeom prst="roundRect">
            <a:avLst>
              <a:gd name="adj" fmla="val 2500"/>
            </a:avLst>
          </a:prstGeom>
          <a:solidFill>
            <a:srgbClr val="EDF3F6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27832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RETAINED Q1 MODEL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3543300"/>
            <a:ext cx="64008" cy="64008"/>
          </a:xfrm>
          <a:prstGeom prst="ellipse">
            <a:avLst/>
          </a:prstGeom>
          <a:solidFill>
            <a:srgbClr val="3D61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 determination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LTO boundary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" y="3835908"/>
            <a:ext cx="64008" cy="64008"/>
          </a:xfrm>
          <a:prstGeom prst="ellipse">
            <a:avLst/>
          </a:prstGeom>
          <a:solidFill>
            <a:srgbClr val="3D617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3767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Criticality, scale &amp; lifecycle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3931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Weight; lifecycle profile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" y="4128516"/>
            <a:ext cx="64008" cy="64008"/>
          </a:xfrm>
          <a:prstGeom prst="ellipse">
            <a:avLst/>
          </a:prstGeom>
          <a:solidFill>
            <a:srgbClr val="3D61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40599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capacity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4224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Capacity Index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8368" y="4421124"/>
            <a:ext cx="64008" cy="64008"/>
          </a:xfrm>
          <a:prstGeom prst="ellipse">
            <a:avLst/>
          </a:prstGeom>
          <a:solidFill>
            <a:srgbClr val="3D617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352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stability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45171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Change Indices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" y="4713732"/>
            <a:ext cx="64008" cy="64008"/>
          </a:xfrm>
          <a:prstGeom prst="ellipse">
            <a:avLst/>
          </a:prstGeom>
          <a:solidFill>
            <a:srgbClr val="3D617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4672" y="4645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48097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Score; band; drivers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13632" y="3127248"/>
            <a:ext cx="3218688" cy="1828800"/>
          </a:xfrm>
          <a:prstGeom prst="roundRect">
            <a:avLst>
              <a:gd name="adj" fmla="val 2500"/>
            </a:avLst>
          </a:prstGeom>
          <a:solidFill>
            <a:srgbClr val="F6F1E6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096512" y="3227832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· NEW CAPACITY LAYERS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3653028"/>
            <a:ext cx="64008" cy="64008"/>
          </a:xfrm>
          <a:prstGeom prst="ellipse">
            <a:avLst/>
          </a:prstGeom>
          <a:solidFill>
            <a:srgbClr val="986F2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61104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capacity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261104" y="3749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FTE by role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0" y="4073652"/>
            <a:ext cx="64008" cy="64008"/>
          </a:xfrm>
          <a:prstGeom prst="ellipse">
            <a:avLst/>
          </a:prstGeom>
          <a:solidFill>
            <a:srgbClr val="986F2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261104" y="4005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adequacy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261104" y="41696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Gap; role gap; signal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0" y="4494276"/>
            <a:ext cx="64008" cy="64008"/>
          </a:xfrm>
          <a:prstGeom prst="ellipse">
            <a:avLst/>
          </a:prstGeom>
          <a:solidFill>
            <a:srgbClr val="986F2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261104" y="44256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action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261104" y="45902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· fund · rebalance · automate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7406640" y="2798064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adequacy signals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406640" y="31546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A330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8266176" y="3127248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minimum  </a:t>
            </a:r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or capabilities cannot be covered.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7406640" y="355701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F8A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8266176" y="3529584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 </a:t>
            </a:r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exists but concentration creates fragility.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7406640" y="3959352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2F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266176" y="3931920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 </a:t>
            </a:r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capability covers the validated minimum.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7406640" y="436168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3A6F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266176" y="4334256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opportunity  </a:t>
            </a:r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appears above minimum, subject to validation.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406640" y="476402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6B76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8266176" y="4736592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Unassessed  </a:t>
            </a:r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insufficient for a decision.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51389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&amp; cadence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57200" y="5431536"/>
            <a:ext cx="2708910" cy="932688"/>
          </a:xfrm>
          <a:prstGeom prst="roundRect">
            <a:avLst>
              <a:gd name="adj" fmla="val 5882"/>
            </a:avLst>
          </a:prstGeom>
          <a:solidFill>
            <a:srgbClr val="10202E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21792" y="5559552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621792" y="5815584"/>
            <a:ext cx="23797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evidence, workload, role floor and proposed capacity.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312414" y="5431536"/>
            <a:ext cx="2708910" cy="932688"/>
          </a:xfrm>
          <a:prstGeom prst="roundRect">
            <a:avLst>
              <a:gd name="adj" fmla="val 5882"/>
            </a:avLst>
          </a:prstGeom>
          <a:solidFill>
            <a:srgbClr val="10202E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477006" y="5559552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Review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3477006" y="5815584"/>
            <a:ext cx="23797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classification, score drivers and shared capacity.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67628" y="5431536"/>
            <a:ext cx="2708910" cy="932688"/>
          </a:xfrm>
          <a:prstGeom prst="roundRect">
            <a:avLst>
              <a:gd name="adj" fmla="val 5882"/>
            </a:avLst>
          </a:prstGeom>
          <a:solidFill>
            <a:srgbClr val="10202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332220" y="5559552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MT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6332220" y="5815584"/>
            <a:ext cx="23797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protected capacity and residual risk.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022842" y="5431536"/>
            <a:ext cx="2708910" cy="932688"/>
          </a:xfrm>
          <a:prstGeom prst="roundRect">
            <a:avLst>
              <a:gd name="adj" fmla="val 5882"/>
            </a:avLst>
          </a:prstGeom>
          <a:solidFill>
            <a:srgbClr val="10202E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187434" y="5559552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C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Refresh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9187434" y="5815584"/>
            <a:ext cx="23797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after material incidents, demand or lifecycle change.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Technology Operating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074152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Capacity Adequacy would be determined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585216"/>
            <a:ext cx="2404872" cy="292608"/>
          </a:xfrm>
          <a:prstGeom prst="roundRect">
            <a:avLst>
              <a:gd name="adj" fmla="val 43750"/>
            </a:avLst>
          </a:prstGeom>
          <a:solidFill>
            <a:srgbClr val="F6F1E6"/>
          </a:solidFill>
          <a:ln w="12700">
            <a:solidFill>
              <a:srgbClr val="E7D7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Application Alpha BA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875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portfolio facts are kept separate from illustrative assumptions. Adequacy needs enough effective FTE and the right role and coverage mix.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1020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481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ACTUAL SOURCE PROFILE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09928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37944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LTO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1837944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62656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90672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15384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$0.95m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68112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96128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CAP.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596128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FTE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48856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FTE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73568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01584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CRIT. INCIDENTS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101584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26296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54312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VOLUME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9354312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479024" y="1700784"/>
            <a:ext cx="0" cy="45720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07040" y="171907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10607040" y="18836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 · High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2505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Illustrative binding-constraint test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2798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2798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REQUIRED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5943600" cy="0"/>
          </a:xfrm>
          <a:prstGeom prst="line">
            <a:avLst/>
          </a:prstGeom>
          <a:noFill/>
          <a:ln w="9525">
            <a:solidFill>
              <a:srgbClr val="D9DE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29992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 workload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200400" y="299923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4114800" y="299923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by obligation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621024"/>
            <a:ext cx="5943600" cy="0"/>
          </a:xfrm>
          <a:prstGeom prst="line">
            <a:avLst/>
          </a:prstGeom>
          <a:noFill/>
          <a:ln w="9525">
            <a:solidFill>
              <a:srgbClr val="D9DEE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" y="332841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floor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200400" y="33284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114800" y="332841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 mix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50208"/>
            <a:ext cx="5943600" cy="0"/>
          </a:xfrm>
          <a:prstGeom prst="line">
            <a:avLst/>
          </a:prstGeom>
          <a:noFill/>
          <a:ln w="9525">
            <a:solidFill>
              <a:srgbClr val="D9DEE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6928" y="36576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floor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200400" y="365760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4114800" y="36576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backup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977640"/>
            <a:ext cx="5943600" cy="301752"/>
          </a:xfrm>
          <a:prstGeom prst="roundRect">
            <a:avLst>
              <a:gd name="adj" fmla="val 9091"/>
            </a:avLst>
          </a:prstGeom>
          <a:solidFill>
            <a:srgbClr val="F6F1E6"/>
          </a:solidFill>
          <a:ln w="9525">
            <a:solidFill>
              <a:srgbClr val="986F2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6928" y="39867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sustainability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200400" y="398678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4114800" y="398678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and stability plan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75120" y="2560320"/>
            <a:ext cx="5056632" cy="1773936"/>
          </a:xfrm>
          <a:prstGeom prst="roundRect">
            <a:avLst>
              <a:gd name="adj" fmla="val 3093"/>
            </a:avLst>
          </a:prstGeom>
          <a:solidFill>
            <a:srgbClr val="F6F1E6"/>
          </a:solidFill>
          <a:ln w="15875">
            <a:solidFill>
              <a:srgbClr val="986F2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949440" y="2688336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986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</a:t>
            </a:r>
            <a:pPr algn="l" indent="0" marL="0">
              <a:buNone/>
            </a:pPr>
            <a:r>
              <a:rPr lang="en-US" sz="1800" b="1" dirty="0">
                <a:solidFill>
                  <a:srgbClr val="986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FTE</a:t>
            </a:r>
            <a:endParaRPr lang="en-US" sz="4600" dirty="0"/>
          </a:p>
        </p:txBody>
      </p:sp>
      <p:sp>
        <p:nvSpPr>
          <p:cNvPr id="57" name="Text 55"/>
          <p:cNvSpPr txBox="1"/>
          <p:nvPr/>
        </p:nvSpPr>
        <p:spPr>
          <a:xfrm>
            <a:off x="6949440" y="3364992"/>
            <a:ext cx="4507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= max(8.4, 8.8, 9.3, 10.5). 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risk / sustainability. Against 9.5 reported FTE the gap is </a:t>
            </a:r>
            <a:pPr algn="l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a gap is not yet an adequacy conclusion.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443984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86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adequacy:  </a:t>
            </a:r>
            <a:pPr algn="l" indent="0" marL="0">
              <a:buNone/>
            </a:pPr>
            <a:r>
              <a:rPr lang="en-US" sz="10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 split unavailable, so every capability is marked </a:t>
            </a:r>
            <a:pPr algn="l" indent="0" marL="0">
              <a:buNone/>
            </a:pPr>
            <a:r>
              <a:rPr lang="en-US" sz="1050" b="1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pPr algn="l" indent="0" marL="0">
              <a:buNone/>
            </a:pPr>
            <a:r>
              <a:rPr lang="en-US" sz="10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Role minimums (5.5 + 2.0 + 2.0 + 1.0) reconcile to 10.5 FTE.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" y="5138928"/>
            <a:ext cx="11274552" cy="1298448"/>
          </a:xfrm>
          <a:prstGeom prst="roundRect">
            <a:avLst>
              <a:gd name="adj" fmla="val 4225"/>
            </a:avLst>
          </a:prstGeom>
          <a:solidFill>
            <a:srgbClr val="10202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52669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APPROPRIATE CURRENT CONCLUSION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5541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5705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8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900" dirty="0"/>
          </a:p>
        </p:txBody>
      </p:sp>
      <p:sp>
        <p:nvSpPr>
          <p:cNvPr id="63" name="Shape 61"/>
          <p:cNvSpPr/>
          <p:nvPr/>
        </p:nvSpPr>
        <p:spPr>
          <a:xfrm>
            <a:off x="3355848" y="5522976"/>
            <a:ext cx="0" cy="50292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584448" y="5541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EVIDENCE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3584448" y="5705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C0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</a:t>
            </a:r>
            <a:endParaRPr lang="en-US" sz="1900" dirty="0"/>
          </a:p>
        </p:txBody>
      </p:sp>
      <p:sp>
        <p:nvSpPr>
          <p:cNvPr id="66" name="Shape 64"/>
          <p:cNvSpPr/>
          <p:nvPr/>
        </p:nvSpPr>
        <p:spPr>
          <a:xfrm>
            <a:off x="6281928" y="5522976"/>
            <a:ext cx="0" cy="502920"/>
          </a:xfrm>
          <a:prstGeom prst="line">
            <a:avLst/>
          </a:prstGeom>
          <a:noFill/>
          <a:ln w="12700">
            <a:solidFill>
              <a:srgbClr val="2A3E5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510528" y="5541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SIGNAL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6510528" y="5705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B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/ Validate</a:t>
            </a:r>
            <a:endParaRPr lang="en-US" sz="1900" dirty="0"/>
          </a:p>
        </p:txBody>
      </p:sp>
      <p:sp>
        <p:nvSpPr>
          <p:cNvPr id="69" name="Text 67"/>
          <p:cNvSpPr txBox="1"/>
          <p:nvPr/>
        </p:nvSpPr>
        <p:spPr>
          <a:xfrm>
            <a:off x="9646920" y="552297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signal is Blue, not a forced Green — </a:t>
            </a:r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effective capacity after sharing and vacancies, backup coverage, mandatory person-days, and whether any stability uplift is temporary or structural.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Viable Capacity — 2027 Technology Operating Model</dc:title>
  <dc:subject>PptxGenJS Presentation</dc:subject>
  <dc:creator>Naveen</dc:creator>
  <cp:lastModifiedBy>Naveen</cp:lastModifiedBy>
  <cp:revision>1</cp:revision>
  <dcterms:created xsi:type="dcterms:W3CDTF">2026-08-31T05:48:19Z</dcterms:created>
  <dcterms:modified xsi:type="dcterms:W3CDTF">2026-08-31T05:48:19Z</dcterms:modified>
</cp:coreProperties>
</file>